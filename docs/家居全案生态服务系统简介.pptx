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5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介绍。今天我将向大家展示一款专为家居装饰行业深度定制的革命性工具——VANMOLY家居全案生态服务系统V3.0。它不仅仅是一个软件，更是一个打通家居服务全流程的一站式数字化管理平台，旨在重塑行业效率与客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七个部分。首先，我们将明确系统的定位和目标。接着，会深入剖析其核心功能模块。然后，我们将探讨系统带来的具体商业价值和其独特的行业定制优势。之后，会通过几个典型场景来展示系统的实际应用。最后，我们会介绍技术规格以及VANMOLY公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系统定位。VANMOLY系统是一款深度定制的平台，专为家居全案服务企业打造。它的核心目标是打通从获客到交付的每一个环节，实现全流程的数字化和智能化。我们采用先进的技术架构，并设计了支持客户、设计师、项目经理等多角色协同工作的模式，构建了一个完整的业务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接下来，我们将深入了解系统的核心功能模块。这些模块分为前台门户和后台管理两大部分，共同构成了一个完整的服务闭环。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面向客户的前台门户。我们设计了沉浸式的案例展示，让客户能轻松找到心仪的风格。智能选品中心让客户可以自主搭配，选品单会实时同步给设计师。此外，楼盘数据库、便捷的在线预约以及透明的服务流程展示，共同为客户打造了极致的浏览和咨询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后台，我们为员工提供了强大的管理工具。从可视化的经营仪表盘，到全生命周期的客户与线索管理，再到智能化的报价合同处理，以及精细化的物料和员工管理。内置的工作流引擎和知识库，更是将企业运营带上了新的高度，实现了全面的数字化赋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那么，这套系统究竟能为企业带来怎样的商业价值呢？我们总结为三个核心方面：降本增效、提升转化和数据驱动决策。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降本增效。通过流程自动化，我们将项目周期平均缩短了20%。通过选品标准化，设计师的出图效率提升了35%。最显著的是报价环节，智能化的报价系统将原本需要2小时的工作缩短到了15分钟，极大地解放了生产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提升转化。我们专业的案例展示页面，让客户停留时长提升了3倍，线索转化率也随之提升了25%。系统的快速响应机制，将线索响应时间从24小时缩短到2小时。同时，透明的服务流程也帮助企业建立了强大的品牌信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系统通过数据驱动决策。经营看板让管理者实时掌握核心业务指标。员工绩效模块为科学的薪酬激励提供了数据基础。而物料成本分析则帮助企业精细化管理成本，提升盈利能力。所有决策都基于真实、实时的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我们的系统并非通用CRM的简单修改，而是真正懂家居行业的深度定制产品。接下来我将介绍我们的四大核心优势。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一个优势，就是懂家居行业的语言。我们认识到，案例是家居行业最核心的资产，因此系统以案例为中心。我们把选品单设计成设计师与客户沟通的载体。我们还强调楼盘调查的前置服务，帮助设计师在客户面前建立专业形象。这些都是源于对行业工作习惯的深刻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优势是，我们覆盖了全案服务中的多个独特场景。例如，案例的多维检索、客户自主选品、报价自动关联物料库、合同进度与客户门户联动，以及适配装修流程的工作流。这些功能在通用系统中要么不支持，要么需要大量定制开发，而在我们的系统中都是开箱即用的原生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优势在于我们的技术架构完全适配行业特性。考虑到案例展示的图片密集性，我们做了专门优化，使页面加载速度提升60%。我们充分支持移动办公，让设计师在外工作也能高效录入信息。最重要的是，我们支持数据私有化部署，保障客户的核心数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的系统具备可持续演进的能力。模块化设计允许企业按需启用功能，降低使用门槛。开放的API支持与主流设计软件对接，打通数据孤岛。我们还预留了AI接口，为未来接入更智能的功能做好了准备，确保系统能跟随行业发展不断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理论说了很多，让我们来看几个实际工作中的典型场景，感受一下系统是如何运作的。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三个场景。首先是新客户线索跟进，从客户预约到方案生成，全流程自动化，能够帮助设计师快速响应。其次是老客户转介绍，利用客户门户的社交分享功能，能够轻松获取更多高质量的线索。最后是项目进度透明化，通过让客户实时查看施工进度和照片，不仅减少了大量的沟通成本，更能有效提升客户的信任度和满意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这是我们系统的技术规格。前端采用Vue 3等主流框架，保证了优秀的用户体验。后端基于Flask，稳定可靠。我们支持多种部署方式，满足不同企业的需求。同时，在浏览器兼容、移动端适配和数据安全方面都做了充分的考虑。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请允许我介绍一下我们的公司VANMOLY。我们是一家专注于家居全案服务的创新企业，我们的使命是通过数字化手段，提升整个行业的效率和客户体验。今天介绍的系统，正是我们多年行业经验的结晶，我们希望能与更多行业伙伴一起，让每一个家，都有温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我的介绍到此结束，感谢大家的聆听。如果您对我们的系统感兴趣，欢迎通过屏幕上的联系方式与我们取得联系，或访问演示地址亲身体验。再次感谢！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0.svg"/><Relationship Id="rId11" Type="http://schemas.openxmlformats.org/officeDocument/2006/relationships/image" Target="../media/image9.png"/><Relationship Id="rId10" Type="http://schemas.openxmlformats.org/officeDocument/2006/relationships/image" Target="../media/image19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image" Target="../media/image28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2.jpeg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7.svg"/><Relationship Id="rId7" Type="http://schemas.openxmlformats.org/officeDocument/2006/relationships/image" Target="../media/image46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jpeg"/><Relationship Id="rId7" Type="http://schemas.openxmlformats.org/officeDocument/2006/relationships/image" Target="../media/image17.svg"/><Relationship Id="rId6" Type="http://schemas.openxmlformats.org/officeDocument/2006/relationships/image" Target="../media/image51.png"/><Relationship Id="rId5" Type="http://schemas.openxmlformats.org/officeDocument/2006/relationships/image" Target="../media/image33.svg"/><Relationship Id="rId4" Type="http://schemas.openxmlformats.org/officeDocument/2006/relationships/image" Target="../media/image50.png"/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6.jpe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13.svg"/><Relationship Id="rId2" Type="http://schemas.openxmlformats.org/officeDocument/2006/relationships/image" Target="../media/image53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svg"/><Relationship Id="rId8" Type="http://schemas.openxmlformats.org/officeDocument/2006/relationships/image" Target="../media/image72.png"/><Relationship Id="rId7" Type="http://schemas.openxmlformats.org/officeDocument/2006/relationships/image" Target="../media/image71.svg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5.svg"/><Relationship Id="rId12" Type="http://schemas.openxmlformats.org/officeDocument/2006/relationships/image" Target="../media/image74.png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7.png"/><Relationship Id="rId1" Type="http://schemas.openxmlformats.org/officeDocument/2006/relationships/image" Target="../media/image7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826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VANMOLY 家居全案生态服务系统 V3.0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191000"/>
            <a:ext cx="1143000" cy="762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一站式数字化管理平台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系统定位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一站式数字化管理平台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699000" y="1841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前后台一体化，覆盖全业务流程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382000" y="1841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商业价值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降本增效，提升转化，数据驱动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873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行业深度定制优势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懂家居行业的语言，覆盖独特场景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99000" y="3873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典型使用场景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从线索跟进到项目交付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28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3873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技术规格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稳定可靠的技术架构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445000" y="5588000"/>
            <a:ext cx="330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445000" y="5588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699000" y="5715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关于 VANMOLY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专注家居服务创新</a:t>
            </a:r>
            <a:endParaRPr lang="en-US" sz="12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系统定位：一站式数字化管理平台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VANMOLY 家居全案生态服务系统 V3.0 是一款专为家居装饰行业深度定制的一站式数字化管理平台，旨在重塑行业管理模式，提升运营效率。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30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6670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面向对象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聚焦家居全案服务企业，精准赋能各类整装公司、独立设计工作室以及提供个性化方案的高端定制机构，满足不同规模企业的管理需求。</a:t>
            </a:r>
            <a:endParaRPr lang="en-US" sz="1300" b="0" i="0" u="none" strike="noStrike">
              <a:solidFill>
                <a:srgbClr val="606C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41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730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26670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核心价值：全链路业务打通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无缝连接“获客 → 设计 → 报价 → 合同 → 施工 → 交付”全链路，消除信息孤岛，实现前后台业务一体化，推动企业管理运营全面智能化。</a:t>
            </a:r>
            <a:endParaRPr lang="en-US" sz="1300" b="0" i="0" u="none" strike="noStrike">
              <a:solidFill>
                <a:srgbClr val="606C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889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8260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前沿技术架构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采用高性能的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Flask + Vue3 + Element Plus</a:t>
            </a:r>
            <a:r>
              <a:rPr lang="en-US" sz="1300" b="0" i="0" u="none" strike="noStrike">
                <a:solidFill>
                  <a:srgbClr val="606C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技术组合，兼顾系统的现代性与运行的高效性，保障企业业务长期稳定增长。</a:t>
            </a:r>
            <a:endParaRPr lang="en-US" sz="1300" b="0" i="0" u="none" strike="noStrike">
              <a:solidFill>
                <a:srgbClr val="606C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572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889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66000" y="4826000"/>
            <a:ext cx="368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多角色生态协同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支持客户、设计师、项目经理、施工队及管理员等多端角色高效协作。覆盖案例展示、智能选品到人员考核的全业务生态，实现多方共赢。</a:t>
            </a:r>
            <a:endParaRPr lang="en-US" sz="1300" b="0" i="0" u="none" strike="noStrike">
              <a:solidFill>
                <a:srgbClr val="606C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FUNCTIONAL MODULES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前台门户（客户侧）：打造极致体验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3649" r="23649"/>
          <a:stretch>
            <a:fillRect/>
          </a:stretch>
        </p:blipFill>
        <p:spPr>
          <a:xfrm>
            <a:off x="762000" y="1778000"/>
            <a:ext cx="4318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461000" y="1778000"/>
            <a:ext cx="203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096000" y="1930400"/>
            <a:ext cx="127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案例展示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51500" y="25400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沉浸式案例浏览，支持按楼盘、面积、风格、预算多维筛选，Hero大图直观呈现空间氛围。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83500" y="1778000"/>
            <a:ext cx="203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318500" y="1930400"/>
            <a:ext cx="127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智能选品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25400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客户自主选品中心，支持按品类、风格、材质筛选，选品单实时同步至设计师后台。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906000" y="1778000"/>
            <a:ext cx="203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6500" y="196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541000" y="1930400"/>
            <a:ext cx="127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楼盘数据库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096500" y="25400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覆盖本地核心楼盘详细信息，支持楼盘调查信息录入，精准匹配客户户型与装修需求。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461000" y="4191000"/>
            <a:ext cx="31115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1500" y="444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23000" y="44196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在线预约服务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651500" y="52070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客户在线填写需求表单，系统自动生成销售线索，并按规则分配给对应设计师跟进。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26500" y="4191000"/>
            <a:ext cx="31115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17000" y="4445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88500" y="44196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品牌与服务展示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17000" y="5207000"/>
            <a:ext cx="273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全面展示企业介绍、核心优势及透明化的服务流程，以清晰的价值主张建立客户品牌信任。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后台管理（员工侧）：赋能高效运营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9536" r="19536"/>
          <a:stretch>
            <a:fillRect/>
          </a:stretch>
        </p:blipFill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651000"/>
            <a:ext cx="1651000" cy="2159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3700" y="1841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350000" y="24130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经营仪表盘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经营数据可视化，实时掌握线索转化、项目进度及业绩统计。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64500" y="1651000"/>
            <a:ext cx="1651000" cy="2159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5200" y="1841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191500" y="24130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客户与线索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全流程管理客户档案与跟进记录，智能分配线索并进行转化率分析。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906000" y="1651000"/>
            <a:ext cx="1651000" cy="2159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26700" y="1841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0033000" y="24130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报价与合同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支持模板化快速报价、利润核算、合同起草、电子签章及付款进度跟踪。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064000"/>
            <a:ext cx="266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31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42926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物料与员工管理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集成SKU物料与供应商管理，提供完整的员工档案、权限管理及自动提成核算。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017000" y="4064000"/>
            <a:ext cx="266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1000" y="431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779000" y="42926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工作流与知识库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支持审批流程与节点提醒的自定义配置，沉淀企业案例复盘与标准SOP文档。</a:t>
            </a:r>
            <a:endParaRPr lang="en-US" sz="11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445000"/>
            <a:ext cx="1016000" cy="762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BUSINESS VALUE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降本增效：流程自动化与标准化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539" b="9539"/>
          <a:stretch>
            <a:fillRect/>
          </a:stretch>
        </p:blipFill>
        <p:spPr>
          <a:xfrm>
            <a:off x="762000" y="1778000"/>
            <a:ext cx="3556000" cy="431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826000" y="1778000"/>
            <a:ext cx="660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2095500"/>
            <a:ext cx="762000" cy="762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223000" y="1968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流程自动化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从线索到交付全流程数字化，减少人工传递信息误差，实现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平均缩短项目周期 20%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826000" y="3429000"/>
            <a:ext cx="660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37465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23000" y="3619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选品标准化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客户在线自助选品，大幅降低线下沟通成本，助力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设计师出图效率提升 35%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826000" y="5080000"/>
            <a:ext cx="660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0000" y="53975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5270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报价智能化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系统自动调用物料库价格，一键生成报价单，将报价时间从</a:t>
            </a: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小时缩短至 15 分钟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提升转化：专业展示与快速响应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841500"/>
            <a:ext cx="381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案例展示专业化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沉浸式案例页，显著提升客户浏览体验。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📈 客户停留时长提升 3 倍 | 线索转化率提升 25%</a:t>
            </a:r>
            <a:endParaRPr lang="en-US" sz="1300" b="1" i="0" u="none" strike="noStrike">
              <a:solidFill>
                <a:srgbClr val="4CAF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207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746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619500"/>
            <a:ext cx="381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快速响应商机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在线预约系统 + 线索自动分配机制，确保不错过任何潜在机会。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线索响应时间：24小时 → 2小时</a:t>
            </a:r>
            <a:endParaRPr lang="en-US" sz="1300" b="1" i="0" u="none" strike="noStrike">
              <a:solidFill>
                <a:srgbClr val="4CAF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721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5270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建立品牌信任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将标准化的服务流程全链路可视化，降低客户的决策门槛，树立专业可靠的品牌形象。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 l="16684" r="16684"/>
          <a:stretch>
            <a:fillRect/>
          </a:stretch>
        </p:blipFill>
        <p:spPr>
          <a:xfrm>
            <a:off x="6350000" y="1651000"/>
            <a:ext cx="5080000" cy="4826000"/>
          </a:xfrm>
          <a:prstGeom prst="roundRect">
            <a:avLst>
              <a:gd name="adj" fmla="val 315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数据驱动决策：洞察经营本质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2726" r="12726"/>
          <a:stretch>
            <a:fillRect/>
          </a:stretch>
        </p:blipFill>
        <p:spPr>
          <a:xfrm>
            <a:off x="762000" y="1778000"/>
            <a:ext cx="4826000" cy="4318000"/>
          </a:xfrm>
          <a:prstGeom prst="roundRect">
            <a:avLst>
              <a:gd name="adj" fmla="val 352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096000" y="17780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20955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366000" y="1968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经营看板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实时掌握线索来源、转化率、项目毛利等核心指标，让每一次的业务决策都有据可依，避免经验主义偏差。</a:t>
            </a:r>
            <a:endParaRPr lang="en-US" sz="13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34290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746500"/>
            <a:ext cx="711200" cy="711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3619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员工绩效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自动统计设计师成单率、客单价等关键绩效数据，为企业薪酬激励体系和人才培养提供客观、精准的数据支撑。</a:t>
            </a:r>
            <a:endParaRPr lang="en-US" sz="13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5080000"/>
            <a:ext cx="5334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5397500"/>
            <a:ext cx="711200" cy="711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5270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物料成本分析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精准核算并拆解每个项目的物料成本结构，及时发现浪费和采购价格异常，帮助企业优化利润空间，降本增效。</a:t>
            </a:r>
            <a:endParaRPr lang="en-US" sz="1300" b="0" i="0" u="none" strike="noStrike">
              <a:solidFill>
                <a:srgbClr val="61616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14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行业深度定制优势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572000"/>
            <a:ext cx="1016000" cy="76200"/>
          </a:xfrm>
          <a:prstGeom prst="roundRect">
            <a:avLst>
              <a:gd name="adj" fmla="val 66666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INDUSTRY DEEP CUSTOMIZATION ADVANTAGES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优势一：懂家居行业的语言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841500"/>
            <a:ext cx="381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 = 最核心资产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系统以“案例”为中心组织数据，而非传统的“客户”中心。因为在家居行业，案例就是最好的销售工具。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746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619500"/>
            <a:ext cx="381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选品单 = 设计沟通载体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客户选品单不仅是购物清单，更是设计师理解客户审美的桥梁。支持实时协作，一键转为报价单。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4102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5270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楼盘调查 = 前置服务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内置楼盘数据库和调查模板，设计师在首次沟通前即可掌握户型优缺点，建立专业形象。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 l="13537" r="13537"/>
          <a:stretch>
            <a:fillRect/>
          </a:stretch>
        </p:blipFill>
        <p:spPr>
          <a:xfrm>
            <a:off x="6223000" y="1841500"/>
            <a:ext cx="5207000" cy="4762500"/>
          </a:xfrm>
          <a:prstGeom prst="roundRect">
            <a:avLst>
              <a:gd name="adj" fmla="val 32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优势二：覆盖“全案服务”独特场景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案例多维检索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(楼盘 / 面积 / 风格 / 预算)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667000"/>
            <a:ext cx="1460500" cy="889000"/>
          </a:xfrm>
          <a:prstGeom prst="roundRect">
            <a:avLst>
              <a:gd name="adj" fmla="val 8571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通用系统</a:t>
            </a:r>
            <a:b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不支持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13000" y="2667000"/>
            <a:ext cx="1460500" cy="889000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13000" y="2794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</a:t>
            </a:r>
            <a:b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原生支持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1841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选品中心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(客户自主选品)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667000"/>
            <a:ext cx="1460500" cy="889000"/>
          </a:xfrm>
          <a:prstGeom prst="roundRect">
            <a:avLst>
              <a:gd name="adj" fmla="val 8571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2794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通用系统</a:t>
            </a:r>
            <a:b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不支持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2667000"/>
            <a:ext cx="1460500" cy="889000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096000" y="2794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</a:t>
            </a:r>
            <a:b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原生支持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18500" y="1841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报价自动关联</a:t>
            </a:r>
            <a:b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物料库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667000"/>
            <a:ext cx="1460500" cy="889000"/>
          </a:xfrm>
          <a:prstGeom prst="roundRect">
            <a:avLst>
              <a:gd name="adj" fmla="val 8571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18500" y="2794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通用系统</a:t>
            </a:r>
            <a:b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需定制开发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779000" y="2667000"/>
            <a:ext cx="1460500" cy="889000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779000" y="27940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</a:t>
            </a:r>
            <a:b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开箱即用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968500" y="4191000"/>
            <a:ext cx="393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2095500" y="4381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合同进度与客户门户联动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159000" y="50800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2159000" y="52070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通用系统</a:t>
            </a:r>
            <a:b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不支持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000500" y="50800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000500" y="52070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</a:t>
            </a:r>
            <a:b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原生支持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4191000"/>
            <a:ext cx="393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13500" y="4381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工作流适配装修流程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50800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52070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通用系统</a:t>
            </a:r>
            <a:br>
              <a:rPr lang="en-US" sz="1200" b="0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不支持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318500" y="50800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318500" y="5207000"/>
            <a:ext cx="171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</a:t>
            </a:r>
            <a:br>
              <a:rPr lang="en-US" sz="1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流程模板内置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优势三：技术架构适配行业特性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1590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30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图片密集型优化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采用懒加载 + WebP 自适应技术，页面加载速度提升</a:t>
            </a:r>
            <a:r>
              <a:rPr lang="en-US" sz="1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，完美支持大量高清案例图展示，确保视觉效果流畅无卡顿。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159000"/>
            <a:ext cx="863600" cy="863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30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移动办公支持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4191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专为设计师工作场景定制，无论是现场量房还是客户家拜访，均可通过移动端快速录入项目信息，随时随地不掉链子。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2136" b="2136"/>
          <a:stretch>
            <a:fillRect/>
          </a:stretch>
        </p:blipFill>
        <p:spPr>
          <a:xfrm>
            <a:off x="8128000" y="1778000"/>
            <a:ext cx="33020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255000" y="381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数据私有化部署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4699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支持本地服务器私有化部署方案，彻底隔离外部网络风险，确保海量案例数据库与客户隐私信息安全无泄露。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优势四：可持续演进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159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317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191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功能模块解耦，企业可根据发展阶段按需启用（如初创期只用案例+线索，发展期加入报价+合同），灵活适配业务变化。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159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35500" y="317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开放 API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191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支持与酷家乐、三维家等主流设计软件无缝对接，实现设计图一键同步至系统案例库，打破工具间的数据孤岛。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159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18500" y="317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就绪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191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系统底层已预留标准 AI 接口，未来可无缝接入智能设计推荐、自动生成方案描述等前沿功能，始终保持技术领先。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14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典型使用场景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TYPICAL USE CASES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三大典型场景，覆盖核心业务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9935" b="9935"/>
          <a:stretch>
            <a:fillRect/>
          </a:stretch>
        </p:blipFill>
        <p:spPr>
          <a:xfrm>
            <a:off x="762000" y="1651000"/>
            <a:ext cx="33020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3683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新客户线索跟进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客户提交预约 → 系统自动创建线索并分配。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设计师收到提醒，查看客户需求和楼盘信息。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上门量房，移动端录入数据。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调取同类案例，快速匹配客户喜好。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生成初步方案和报价，发送确认。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2159000"/>
            <a:ext cx="863600" cy="863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35500" y="3429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老客户转介绍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老客户登录门户，查看自家完工案例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一键分享至朋友圈，带来高质量线索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新线索标记“转介绍”，系统自动计算积分/优惠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7200" y="2159000"/>
            <a:ext cx="863600" cy="863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18500" y="3429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项目进度透明化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4445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项目经理每日更新施工进度，上传照片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客户门户实时查看，减少沟通成本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关键节点系统自动提醒客户和项目经理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技术规格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32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841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前端技术栈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 3 + Vite + Element Plus + Pinia，打造高性能、现代化交互体验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032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1841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后端技术栈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Flask + SQLAlchemy，支持 SQLite / MySQL 双数据库，轻量且稳定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429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810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3619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灵活部署方式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支持公有云/私有云服务器、本地服务器及 Docker 容器化一键部署方案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429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810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93000" y="3619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浏览器兼容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全面适配 Chrome、Microsoft Edge、Firefox 等主流浏览器最新版本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461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2032000" y="5270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全端响应式适配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采用响应式布局设计，自动适配手机、平板及桌面端不同尺寸的屏幕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5080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5461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93000" y="5270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数据安全保障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构建多维安全防线，包含基于角色的权限分级、全链路操作日志及自动数据备份机制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关于 VANMOLY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1905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VANMOLY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55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是一家专注于家居全案服务的创新企业，致力于通过数字化手段提升家居服务行业的效率和客户体验。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953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本系统是 VANMOLY 多年行业经验的数字化沉淀，现已开放给行业合作伙伴使用。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让每一个家，都有温度。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4CAF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让每一个家，都有温度。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联系人：[</a:t>
            </a:r>
            <a:r>
              <a:rPr lang="zh-CN" altLang="en-US" sz="1600" b="1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王学明</a:t>
            </a:r>
            <a:r>
              <a:rPr lang="en-US" sz="1600" b="1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 | </a:t>
            </a:r>
            <a:r>
              <a:rPr lang="zh-CN" altLang="en-US" sz="1600" b="1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帝标总部</a:t>
            </a:r>
            <a:r>
              <a:rPr lang="en-US" sz="1600" b="1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期待与您的合作，共创美好未来</a:t>
            </a:r>
            <a:endParaRPr lang="en-US" sz="1300" b="0" i="0" u="none" strike="noStrike">
              <a:solidFill>
                <a:srgbClr val="75757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3040</Words>
  <Application>WPS 演示</Application>
  <PresentationFormat/>
  <Paragraphs>269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王學明</cp:lastModifiedBy>
  <cp:revision>1</cp:revision>
  <dcterms:created xsi:type="dcterms:W3CDTF">2026-05-13T04:37:35Z</dcterms:created>
  <dcterms:modified xsi:type="dcterms:W3CDTF">2026-05-13T04:37:35Z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FBD5BEE7E3E64CF09D9CA5B6B253B4E0_13</vt:lpwstr>
  </property>
</Properties>
</file>